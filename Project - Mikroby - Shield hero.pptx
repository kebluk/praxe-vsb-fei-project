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cs-CZ"/>
              <a:t>Kliknutím lze upravit styl.</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Kliknutím můžete upravit styl předlohy.</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a:xfrm>
            <a:off x="3962399" y="5870575"/>
            <a:ext cx="4893958" cy="377825"/>
          </a:xfrm>
        </p:spPr>
        <p:txBody>
          <a:bodyPr/>
          <a:lstStyle/>
          <a:p>
            <a:endParaRPr lang="cs-CZ"/>
          </a:p>
        </p:txBody>
      </p:sp>
      <p:sp>
        <p:nvSpPr>
          <p:cNvPr id="6" name="Slide Number Placeholder 5"/>
          <p:cNvSpPr>
            <a:spLocks noGrp="1"/>
          </p:cNvSpPr>
          <p:nvPr>
            <p:ph type="sldNum" sz="quarter" idx="12"/>
          </p:nvPr>
        </p:nvSpPr>
        <p:spPr>
          <a:xfrm>
            <a:off x="10608958" y="5870575"/>
            <a:ext cx="551167" cy="377825"/>
          </a:xfrm>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166317069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idx="1"/>
          </p:nvPr>
        </p:nvSpPr>
        <p:spPr/>
        <p:txBody>
          <a:bodyPr anchor="ct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2203363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cs-CZ"/>
              <a:t>Kliknutím lze upravit styl.</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4273927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Date Placeholder 4"/>
          <p:cNvSpPr>
            <a:spLocks noGrp="1"/>
          </p:cNvSpPr>
          <p:nvPr>
            <p:ph type="dt" sz="half" idx="10"/>
          </p:nvPr>
        </p:nvSpPr>
        <p:spPr/>
        <p:txBody>
          <a:bodyPr/>
          <a:lstStyle/>
          <a:p>
            <a:fld id="{E1714AE8-CD56-415A-8701-1EBB69C78343}" type="datetimeFigureOut">
              <a:rPr lang="cs-CZ" smtClean="0"/>
              <a:t>25.05.2026</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4251692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cs-CZ"/>
              <a:t>Kliknutím lze upravit styl.</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7" name="Date Placeholder 6"/>
          <p:cNvSpPr>
            <a:spLocks noGrp="1"/>
          </p:cNvSpPr>
          <p:nvPr>
            <p:ph type="dt" sz="half" idx="10"/>
          </p:nvPr>
        </p:nvSpPr>
        <p:spPr/>
        <p:txBody>
          <a:bodyPr/>
          <a:lstStyle/>
          <a:p>
            <a:fld id="{E1714AE8-CD56-415A-8701-1EBB69C78343}" type="datetimeFigureOut">
              <a:rPr lang="cs-CZ" smtClean="0"/>
              <a:t>25.05.2026</a:t>
            </a:fld>
            <a:endParaRPr lang="cs-CZ"/>
          </a:p>
        </p:txBody>
      </p:sp>
      <p:sp>
        <p:nvSpPr>
          <p:cNvPr id="8" name="Footer Placeholder 7"/>
          <p:cNvSpPr>
            <a:spLocks noGrp="1"/>
          </p:cNvSpPr>
          <p:nvPr>
            <p:ph type="ftr" sz="quarter" idx="11"/>
          </p:nvPr>
        </p:nvSpPr>
        <p:spPr/>
        <p:txBody>
          <a:bodyPr/>
          <a:lstStyle/>
          <a:p>
            <a:endParaRPr lang="cs-CZ"/>
          </a:p>
        </p:txBody>
      </p:sp>
      <p:sp>
        <p:nvSpPr>
          <p:cNvPr id="9" name="Slide Number Placeholder 8"/>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1633809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cs-CZ"/>
              <a:t>Kliknutím lze upravit styl.</a:t>
            </a:r>
            <a:endParaRPr lang="en-US" dirty="0"/>
          </a:p>
        </p:txBody>
      </p:sp>
      <p:sp>
        <p:nvSpPr>
          <p:cNvPr id="3" name="Date Placeholder 2"/>
          <p:cNvSpPr>
            <a:spLocks noGrp="1"/>
          </p:cNvSpPr>
          <p:nvPr>
            <p:ph type="dt" sz="half" idx="10"/>
          </p:nvPr>
        </p:nvSpPr>
        <p:spPr/>
        <p:txBody>
          <a:bodyPr/>
          <a:lstStyle/>
          <a:p>
            <a:fld id="{E1714AE8-CD56-415A-8701-1EBB69C78343}" type="datetimeFigureOut">
              <a:rPr lang="cs-CZ" smtClean="0"/>
              <a:t>25.05.2026</a:t>
            </a:fld>
            <a:endParaRPr lang="cs-CZ"/>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892795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E1714AE8-CD56-415A-8701-1EBB69C78343}" type="datetimeFigureOut">
              <a:rPr lang="cs-CZ" smtClean="0"/>
              <a:t>25.05.2026</a:t>
            </a:fld>
            <a:endParaRPr lang="cs-CZ"/>
          </a:p>
        </p:txBody>
      </p:sp>
      <p:sp>
        <p:nvSpPr>
          <p:cNvPr id="3" name="Footer Placeholder 2"/>
          <p:cNvSpPr>
            <a:spLocks noGrp="1"/>
          </p:cNvSpPr>
          <p:nvPr>
            <p:ph type="ftr" sz="quarter" idx="11"/>
          </p:nvPr>
        </p:nvSpPr>
        <p:spPr/>
        <p:txBody>
          <a:bodyPr/>
          <a:lstStyle/>
          <a:p>
            <a:endParaRPr lang="cs-CZ"/>
          </a:p>
        </p:txBody>
      </p:sp>
      <p:sp>
        <p:nvSpPr>
          <p:cNvPr id="4" name="Slide Number Placeholder 3"/>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406250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cs-CZ"/>
              <a:t>Kliknutím lze upravit styl.</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E1714AE8-CD56-415A-8701-1EBB69C78343}" type="datetimeFigureOut">
              <a:rPr lang="cs-CZ" smtClean="0"/>
              <a:t>25.05.2026</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2390997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cs-CZ"/>
              <a:t>Kliknutím lze upravit styl.</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E1714AE8-CD56-415A-8701-1EBB69C78343}" type="datetimeFigureOut">
              <a:rPr lang="cs-CZ" smtClean="0"/>
              <a:t>25.05.2026</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3430891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tický obrázek s popiske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cs-CZ"/>
              <a:t>Kliknutím lze upravit styl.</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E1714AE8-CD56-415A-8701-1EBB69C78343}" type="datetimeFigureOut">
              <a:rPr lang="cs-CZ" smtClean="0"/>
              <a:t>25.05.2026</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572918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ázev a popisek">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cs-CZ"/>
              <a:t>Kliknutím lze upravit styl.</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451807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ce s popiskem">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cs-CZ"/>
              <a:t>Kliknutím lze upravit styl.</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cs-CZ"/>
              <a:t>Po kliknutí můžete upravovat styly textu v předloze.</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2744452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Jmenovka">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cs-CZ"/>
              <a:t>Kliknutím lze upravit styl.</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4199591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Jmenovka s citací">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cs-CZ"/>
              <a:t>Kliknutím lze upravit styl.</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cs-CZ"/>
              <a:t>Po kliknutí můžete upravovat styly textu v předloze.</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3434991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ravda nebo nepravda">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cs-CZ"/>
              <a:t>Kliknutím lze upravit styl.</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cs-CZ"/>
              <a:t>Po kliknutí můžete upravovat styly textu v předloze.</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291359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cs-CZ"/>
              <a:t>Kliknutím lze upravit styl.</a:t>
            </a:r>
            <a:endParaRPr lang="en-US" dirty="0"/>
          </a:p>
        </p:txBody>
      </p:sp>
      <p:sp>
        <p:nvSpPr>
          <p:cNvPr id="3" name="Vertical Text Placeholder 2"/>
          <p:cNvSpPr>
            <a:spLocks noGrp="1"/>
          </p:cNvSpPr>
          <p:nvPr>
            <p:ph type="body" orient="vert" idx="1"/>
          </p:nvPr>
        </p:nvSpPr>
        <p:spPr/>
        <p:txBody>
          <a:bodyPr vert="eaVert" ancho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1672725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cs-CZ"/>
              <a:t>Kliknutím lze upravit styl.</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E1714AE8-CD56-415A-8701-1EBB69C78343}" type="datetimeFigureOut">
              <a:rPr lang="cs-CZ" smtClean="0"/>
              <a:t>25.05.2026</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C5B6043E-5364-48D3-8370-91F86C61FD95}" type="slidenum">
              <a:rPr lang="cs-CZ" smtClean="0"/>
              <a:t>‹#›</a:t>
            </a:fld>
            <a:endParaRPr lang="cs-CZ"/>
          </a:p>
        </p:txBody>
      </p:sp>
    </p:spTree>
    <p:extLst>
      <p:ext uri="{BB962C8B-B14F-4D97-AF65-F5344CB8AC3E}">
        <p14:creationId xmlns:p14="http://schemas.microsoft.com/office/powerpoint/2010/main" val="837324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cs-CZ"/>
              <a:t>Kliknutím lze upravit styl.</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1714AE8-CD56-415A-8701-1EBB69C78343}" type="datetimeFigureOut">
              <a:rPr lang="cs-CZ" smtClean="0"/>
              <a:t>25.05.2026</a:t>
            </a:fld>
            <a:endParaRPr lang="cs-CZ"/>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cs-CZ"/>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5B6043E-5364-48D3-8370-91F86C61FD95}" type="slidenum">
              <a:rPr lang="cs-CZ" smtClean="0"/>
              <a:t>‹#›</a:t>
            </a:fld>
            <a:endParaRPr lang="cs-CZ"/>
          </a:p>
        </p:txBody>
      </p:sp>
    </p:spTree>
    <p:extLst>
      <p:ext uri="{BB962C8B-B14F-4D97-AF65-F5344CB8AC3E}">
        <p14:creationId xmlns:p14="http://schemas.microsoft.com/office/powerpoint/2010/main" val="3820149334"/>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igorantolic/ai-esp32-rotary-encoder.git" TargetMode="External"/><Relationship Id="rId2" Type="http://schemas.openxmlformats.org/officeDocument/2006/relationships/hyperlink" Target="https://github.com/adafruit/Adafruit_SSD1306.g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D29A9AD-8B2A-455B-9976-913C286B5A22}"/>
              </a:ext>
            </a:extLst>
          </p:cNvPr>
          <p:cNvSpPr>
            <a:spLocks noGrp="1"/>
          </p:cNvSpPr>
          <p:nvPr>
            <p:ph type="ctrTitle"/>
          </p:nvPr>
        </p:nvSpPr>
        <p:spPr/>
        <p:txBody>
          <a:bodyPr/>
          <a:lstStyle/>
          <a:p>
            <a:r>
              <a:rPr lang="cs-CZ" b="1" dirty="0">
                <a:latin typeface="Berlin Sans FB Demi" panose="020E0802020502020306" pitchFamily="34" charset="0"/>
              </a:rPr>
              <a:t>Mikroby</a:t>
            </a:r>
          </a:p>
        </p:txBody>
      </p:sp>
      <p:sp>
        <p:nvSpPr>
          <p:cNvPr id="3" name="Podnadpis 2">
            <a:extLst>
              <a:ext uri="{FF2B5EF4-FFF2-40B4-BE49-F238E27FC236}">
                <a16:creationId xmlns:a16="http://schemas.microsoft.com/office/drawing/2014/main" id="{965BA430-63A4-40DD-9F46-AD1A855E1A72}"/>
              </a:ext>
            </a:extLst>
          </p:cNvPr>
          <p:cNvSpPr>
            <a:spLocks noGrp="1"/>
          </p:cNvSpPr>
          <p:nvPr>
            <p:ph type="subTitle" idx="1"/>
          </p:nvPr>
        </p:nvSpPr>
        <p:spPr/>
        <p:txBody>
          <a:bodyPr/>
          <a:lstStyle/>
          <a:p>
            <a:r>
              <a:rPr lang="cs-CZ" dirty="0">
                <a:latin typeface="Bahnschrift" panose="020B0502040204020203" pitchFamily="34" charset="0"/>
              </a:rPr>
              <a:t>Jakub Kočnar, David Koval</a:t>
            </a:r>
          </a:p>
        </p:txBody>
      </p:sp>
      <p:sp>
        <p:nvSpPr>
          <p:cNvPr id="5" name="TextovéPole 4">
            <a:extLst>
              <a:ext uri="{FF2B5EF4-FFF2-40B4-BE49-F238E27FC236}">
                <a16:creationId xmlns:a16="http://schemas.microsoft.com/office/drawing/2014/main" id="{521889F2-5B30-4F6C-A4C4-99F2FCFCA0A0}"/>
              </a:ext>
            </a:extLst>
          </p:cNvPr>
          <p:cNvSpPr txBox="1"/>
          <p:nvPr/>
        </p:nvSpPr>
        <p:spPr>
          <a:xfrm>
            <a:off x="1466660" y="2321004"/>
            <a:ext cx="6094602" cy="1107996"/>
          </a:xfrm>
          <a:prstGeom prst="rect">
            <a:avLst/>
          </a:prstGeom>
          <a:noFill/>
        </p:spPr>
        <p:txBody>
          <a:bodyPr wrap="square">
            <a:spAutoFit/>
          </a:bodyPr>
          <a:lstStyle/>
          <a:p>
            <a:r>
              <a:rPr lang="cs-CZ" sz="6600" dirty="0">
                <a:solidFill>
                  <a:schemeClr val="tx1">
                    <a:lumMod val="95000"/>
                  </a:schemeClr>
                </a:solidFill>
                <a:latin typeface="Arial Black" panose="020B0A04020102020204" pitchFamily="34" charset="0"/>
              </a:rPr>
              <a:t>Shield Hero</a:t>
            </a:r>
          </a:p>
        </p:txBody>
      </p:sp>
    </p:spTree>
    <p:extLst>
      <p:ext uri="{BB962C8B-B14F-4D97-AF65-F5344CB8AC3E}">
        <p14:creationId xmlns:p14="http://schemas.microsoft.com/office/powerpoint/2010/main" val="298401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2F595E-2789-4120-A5E7-14294605BDB6}"/>
              </a:ext>
            </a:extLst>
          </p:cNvPr>
          <p:cNvSpPr>
            <a:spLocks noGrp="1"/>
          </p:cNvSpPr>
          <p:nvPr>
            <p:ph type="title"/>
          </p:nvPr>
        </p:nvSpPr>
        <p:spPr/>
        <p:txBody>
          <a:bodyPr/>
          <a:lstStyle/>
          <a:p>
            <a:r>
              <a:rPr lang="cs-CZ" dirty="0">
                <a:latin typeface="Arial Black" panose="020B0A04020102020204" pitchFamily="34" charset="0"/>
              </a:rPr>
              <a:t>Návrh</a:t>
            </a:r>
          </a:p>
        </p:txBody>
      </p:sp>
      <p:sp>
        <p:nvSpPr>
          <p:cNvPr id="3" name="Zástupný obsah 2">
            <a:extLst>
              <a:ext uri="{FF2B5EF4-FFF2-40B4-BE49-F238E27FC236}">
                <a16:creationId xmlns:a16="http://schemas.microsoft.com/office/drawing/2014/main" id="{4131FC05-7FBE-4223-ACEA-6A6C88C53EFA}"/>
              </a:ext>
            </a:extLst>
          </p:cNvPr>
          <p:cNvSpPr>
            <a:spLocks noGrp="1"/>
          </p:cNvSpPr>
          <p:nvPr>
            <p:ph idx="1"/>
          </p:nvPr>
        </p:nvSpPr>
        <p:spPr>
          <a:xfrm>
            <a:off x="685801" y="1686187"/>
            <a:ext cx="11142676" cy="4806892"/>
          </a:xfrm>
        </p:spPr>
        <p:txBody>
          <a:bodyPr anchor="t">
            <a:normAutofit/>
          </a:bodyPr>
          <a:lstStyle/>
          <a:p>
            <a:pPr marL="0" indent="0">
              <a:buNone/>
            </a:pPr>
            <a:r>
              <a:rPr lang="cs-CZ" sz="2000" dirty="0"/>
              <a:t>Čeho jsme chtěli docílit? </a:t>
            </a:r>
          </a:p>
          <a:p>
            <a:pPr marL="457200" lvl="1" indent="0">
              <a:buNone/>
            </a:pPr>
            <a:r>
              <a:rPr lang="cs-CZ" sz="2000" dirty="0"/>
              <a:t>Uprostřed displeje se nachází hráč, který pomocí rotačního enkodéru otáčí výsečí na obrazovce, štítem. Ten jej chrání před kulkami lítající z náhodných stran v náhodných intervalech a s náhodnou rychlostí. Když však štítem mine má druhou šanci použít tlačítko v momentě, kdy by se jej kulka dotkla. Za správné načasování dostává bod, za špatné ztrácí jeden ze svých životů.</a:t>
            </a:r>
          </a:p>
          <a:p>
            <a:pPr marL="0" indent="0">
              <a:buNone/>
            </a:pPr>
            <a:r>
              <a:rPr lang="cs-CZ" sz="2000" dirty="0"/>
              <a:t>Jak jsme to navrhli?</a:t>
            </a:r>
          </a:p>
          <a:p>
            <a:pPr marL="0" indent="0">
              <a:buNone/>
            </a:pPr>
            <a:r>
              <a:rPr lang="cs-CZ" sz="2000" dirty="0"/>
              <a:t>	Při startu se provede kontrola všech periferií. Poté se hraje dokud má hráč život, který je 	světelně 	indikovaný pomocí RGB LED. Na konci hry se zobrazí počet bodů podle toho kolik kuliček hráč odrazil.</a:t>
            </a:r>
          </a:p>
          <a:p>
            <a:pPr marL="0" indent="0">
              <a:buNone/>
            </a:pPr>
            <a:r>
              <a:rPr lang="cs-CZ" sz="2000" dirty="0"/>
              <a:t>Pravidla? </a:t>
            </a:r>
            <a:br>
              <a:rPr lang="cs-CZ" sz="2000" dirty="0"/>
            </a:br>
            <a:r>
              <a:rPr lang="cs-CZ" sz="2000" dirty="0"/>
              <a:t>	Nenechte se trefit.</a:t>
            </a:r>
          </a:p>
          <a:p>
            <a:pPr marL="0" indent="0">
              <a:buNone/>
            </a:pPr>
            <a:r>
              <a:rPr lang="cs-CZ" sz="2000" dirty="0"/>
              <a:t>Co se nám nepovedlo?</a:t>
            </a:r>
            <a:br>
              <a:rPr lang="cs-CZ" sz="2000" dirty="0"/>
            </a:br>
            <a:r>
              <a:rPr lang="cs-CZ" sz="2000" dirty="0"/>
              <a:t>	Ke konci jsme se rozhodli odebrat funkci tlačítka (druhou šanci) z důvodu nechtěné jednoduchosti hry. 	Možným řešením by bylo porovnávat tlačítko na CHANGE a ne jen na HIGH (nepřišli jsme na to jak).</a:t>
            </a:r>
          </a:p>
        </p:txBody>
      </p:sp>
    </p:spTree>
    <p:extLst>
      <p:ext uri="{BB962C8B-B14F-4D97-AF65-F5344CB8AC3E}">
        <p14:creationId xmlns:p14="http://schemas.microsoft.com/office/powerpoint/2010/main" val="1522105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2F595E-2789-4120-A5E7-14294605BDB6}"/>
              </a:ext>
            </a:extLst>
          </p:cNvPr>
          <p:cNvSpPr>
            <a:spLocks noGrp="1"/>
          </p:cNvSpPr>
          <p:nvPr>
            <p:ph type="title"/>
          </p:nvPr>
        </p:nvSpPr>
        <p:spPr/>
        <p:txBody>
          <a:bodyPr/>
          <a:lstStyle/>
          <a:p>
            <a:r>
              <a:rPr lang="cs-CZ" dirty="0">
                <a:latin typeface="Arial Black" panose="020B0A04020102020204" pitchFamily="34" charset="0"/>
              </a:rPr>
              <a:t>HardWare</a:t>
            </a:r>
          </a:p>
        </p:txBody>
      </p:sp>
      <p:sp>
        <p:nvSpPr>
          <p:cNvPr id="3" name="Zástupný obsah 2">
            <a:extLst>
              <a:ext uri="{FF2B5EF4-FFF2-40B4-BE49-F238E27FC236}">
                <a16:creationId xmlns:a16="http://schemas.microsoft.com/office/drawing/2014/main" id="{4131FC05-7FBE-4223-ACEA-6A6C88C53EFA}"/>
              </a:ext>
            </a:extLst>
          </p:cNvPr>
          <p:cNvSpPr>
            <a:spLocks noGrp="1"/>
          </p:cNvSpPr>
          <p:nvPr>
            <p:ph idx="1"/>
          </p:nvPr>
        </p:nvSpPr>
        <p:spPr>
          <a:xfrm>
            <a:off x="685800" y="2527567"/>
            <a:ext cx="10131425" cy="4085439"/>
          </a:xfrm>
        </p:spPr>
        <p:txBody>
          <a:bodyPr anchor="t">
            <a:normAutofit/>
          </a:bodyPr>
          <a:lstStyle/>
          <a:p>
            <a:pPr marL="0" indent="0">
              <a:buNone/>
            </a:pPr>
            <a:r>
              <a:rPr lang="cs-CZ" sz="2000" dirty="0"/>
              <a:t>Periferie:</a:t>
            </a:r>
          </a:p>
          <a:p>
            <a:pPr marL="0" indent="0">
              <a:buNone/>
            </a:pPr>
            <a:r>
              <a:rPr lang="cs-CZ" sz="2000" dirty="0"/>
              <a:t>	OLED Display (I</a:t>
            </a:r>
            <a:r>
              <a:rPr lang="cs-CZ" sz="2000" baseline="30000" dirty="0"/>
              <a:t>2</a:t>
            </a:r>
            <a:r>
              <a:rPr lang="cs-CZ" sz="2000" dirty="0"/>
              <a:t>C) – 128x64 on/off pixelů (bílá/černá)</a:t>
            </a:r>
          </a:p>
          <a:p>
            <a:pPr marL="0" indent="0">
              <a:buNone/>
            </a:pPr>
            <a:r>
              <a:rPr lang="cs-CZ" sz="2000" dirty="0"/>
              <a:t>	RGB LED – Svítí podle přivedených napětí na LED.</a:t>
            </a:r>
          </a:p>
          <a:p>
            <a:pPr marL="0" indent="0">
              <a:buNone/>
            </a:pPr>
            <a:r>
              <a:rPr lang="cs-CZ" sz="2000" dirty="0"/>
              <a:t>	Rotační Enkodér – Detekuje směr otáčení a o kolik.</a:t>
            </a:r>
          </a:p>
          <a:p>
            <a:pPr marL="0" indent="0">
              <a:buNone/>
            </a:pPr>
            <a:r>
              <a:rPr lang="cs-CZ" sz="2000" dirty="0"/>
              <a:t>	Tlačítko – Spojí kontakty a tím zapne hru.</a:t>
            </a:r>
            <a:br>
              <a:rPr lang="cs-CZ" sz="2400" dirty="0"/>
            </a:br>
            <a:r>
              <a:rPr lang="cs-CZ" sz="2400" dirty="0"/>
              <a:t>	</a:t>
            </a:r>
          </a:p>
        </p:txBody>
      </p:sp>
      <p:pic>
        <p:nvPicPr>
          <p:cNvPr id="5" name="Obrázek 4">
            <a:extLst>
              <a:ext uri="{FF2B5EF4-FFF2-40B4-BE49-F238E27FC236}">
                <a16:creationId xmlns:a16="http://schemas.microsoft.com/office/drawing/2014/main" id="{ACD816E5-8D98-405E-B1B4-4531B2719A9D}"/>
              </a:ext>
            </a:extLst>
          </p:cNvPr>
          <p:cNvPicPr>
            <a:picLocks noChangeAspect="1"/>
          </p:cNvPicPr>
          <p:nvPr/>
        </p:nvPicPr>
        <p:blipFill>
          <a:blip r:embed="rId2">
            <a:alphaModFix amt="89000"/>
          </a:blip>
          <a:stretch>
            <a:fillRect/>
          </a:stretch>
        </p:blipFill>
        <p:spPr>
          <a:xfrm>
            <a:off x="6920917" y="7799"/>
            <a:ext cx="5271083" cy="3585813"/>
          </a:xfrm>
          <a:prstGeom prst="rect">
            <a:avLst/>
          </a:prstGeom>
        </p:spPr>
      </p:pic>
      <p:sp>
        <p:nvSpPr>
          <p:cNvPr id="7" name="TextovéPole 6">
            <a:extLst>
              <a:ext uri="{FF2B5EF4-FFF2-40B4-BE49-F238E27FC236}">
                <a16:creationId xmlns:a16="http://schemas.microsoft.com/office/drawing/2014/main" id="{DCD55226-37D8-4AA0-A1C9-454C91982B4B}"/>
              </a:ext>
            </a:extLst>
          </p:cNvPr>
          <p:cNvSpPr txBox="1"/>
          <p:nvPr/>
        </p:nvSpPr>
        <p:spPr>
          <a:xfrm>
            <a:off x="9848674" y="3750684"/>
            <a:ext cx="2343325" cy="2862322"/>
          </a:xfrm>
          <a:prstGeom prst="rect">
            <a:avLst/>
          </a:prstGeom>
          <a:noFill/>
        </p:spPr>
        <p:txBody>
          <a:bodyPr wrap="square">
            <a:spAutoFit/>
          </a:bodyPr>
          <a:lstStyle/>
          <a:p>
            <a:pPr marL="457200" lvl="1" indent="0">
              <a:buNone/>
            </a:pPr>
            <a:r>
              <a:rPr lang="cs-CZ" sz="1800" b="0" dirty="0">
                <a:solidFill>
                  <a:srgbClr val="9CDCFE"/>
                </a:solidFill>
                <a:effectLst/>
                <a:latin typeface="Consolas" panose="020B0609020204030204" pitchFamily="49" charset="0"/>
              </a:rPr>
              <a:t>RGB_R</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14</a:t>
            </a:r>
            <a:r>
              <a:rPr lang="cs-CZ" sz="1800" b="0" dirty="0">
                <a:solidFill>
                  <a:srgbClr val="CCCCCC"/>
                </a:solidFill>
                <a:effectLst/>
                <a:latin typeface="Consolas" panose="020B0609020204030204" pitchFamily="49" charset="0"/>
              </a:rPr>
              <a:t>;</a:t>
            </a:r>
          </a:p>
          <a:p>
            <a:pPr marL="457200" lvl="1" indent="0">
              <a:buNone/>
            </a:pPr>
            <a:r>
              <a:rPr lang="cs-CZ" sz="1800" b="0" dirty="0">
                <a:solidFill>
                  <a:srgbClr val="9CDCFE"/>
                </a:solidFill>
                <a:effectLst/>
                <a:latin typeface="Consolas" panose="020B0609020204030204" pitchFamily="49" charset="0"/>
              </a:rPr>
              <a:t>RGB_G</a:t>
            </a:r>
            <a:r>
              <a:rPr lang="cs-CZ" dirty="0">
                <a:solidFill>
                  <a:srgbClr val="CCCCCC"/>
                </a:solidFill>
                <a:latin typeface="Consolas" panose="020B0609020204030204" pitchFamily="49" charset="0"/>
              </a:rPr>
              <a:t>:</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27</a:t>
            </a:r>
            <a:r>
              <a:rPr lang="cs-CZ" sz="1800" b="0" dirty="0">
                <a:solidFill>
                  <a:srgbClr val="CCCCCC"/>
                </a:solidFill>
                <a:effectLst/>
                <a:latin typeface="Consolas" panose="020B0609020204030204" pitchFamily="49" charset="0"/>
              </a:rPr>
              <a:t>;</a:t>
            </a:r>
          </a:p>
          <a:p>
            <a:pPr marL="457200" lvl="1" indent="0">
              <a:buNone/>
            </a:pPr>
            <a:r>
              <a:rPr lang="cs-CZ" sz="1800" b="0" dirty="0">
                <a:solidFill>
                  <a:srgbClr val="9CDCFE"/>
                </a:solidFill>
                <a:effectLst/>
                <a:latin typeface="Consolas" panose="020B0609020204030204" pitchFamily="49" charset="0"/>
              </a:rPr>
              <a:t>RGB_B</a:t>
            </a:r>
            <a:r>
              <a:rPr lang="cs-CZ" dirty="0">
                <a:solidFill>
                  <a:srgbClr val="CCCCCC"/>
                </a:solidFill>
                <a:latin typeface="Consolas" panose="020B0609020204030204" pitchFamily="49" charset="0"/>
              </a:rPr>
              <a:t>:</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26</a:t>
            </a:r>
            <a:r>
              <a:rPr lang="cs-CZ" sz="1800" b="0" dirty="0">
                <a:solidFill>
                  <a:srgbClr val="CCCCCC"/>
                </a:solidFill>
                <a:effectLst/>
                <a:latin typeface="Consolas" panose="020B0609020204030204" pitchFamily="49" charset="0"/>
              </a:rPr>
              <a:t>;</a:t>
            </a:r>
            <a:endParaRPr lang="cs-CZ" sz="1800" b="0" dirty="0">
              <a:solidFill>
                <a:srgbClr val="9CDCFE"/>
              </a:solidFill>
              <a:effectLst/>
              <a:latin typeface="Consolas" panose="020B0609020204030204" pitchFamily="49" charset="0"/>
            </a:endParaRPr>
          </a:p>
          <a:p>
            <a:pPr marL="457200" lvl="1" indent="0">
              <a:buNone/>
            </a:pPr>
            <a:r>
              <a:rPr lang="cs-CZ" sz="1800" b="0" dirty="0">
                <a:solidFill>
                  <a:srgbClr val="9CDCFE"/>
                </a:solidFill>
                <a:effectLst/>
                <a:latin typeface="Consolas" panose="020B0609020204030204" pitchFamily="49" charset="0"/>
              </a:rPr>
              <a:t>BTN</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16</a:t>
            </a:r>
            <a:r>
              <a:rPr lang="cs-CZ" sz="1800" b="0" dirty="0">
                <a:solidFill>
                  <a:srgbClr val="CCCCCC"/>
                </a:solidFill>
                <a:effectLst/>
                <a:latin typeface="Consolas" panose="020B0609020204030204" pitchFamily="49" charset="0"/>
              </a:rPr>
              <a:t>;</a:t>
            </a:r>
            <a:br>
              <a:rPr lang="cs-CZ" sz="1800" b="0" dirty="0">
                <a:solidFill>
                  <a:srgbClr val="CCCCCC"/>
                </a:solidFill>
                <a:effectLst/>
                <a:latin typeface="Consolas" panose="020B0609020204030204" pitchFamily="49" charset="0"/>
              </a:rPr>
            </a:br>
            <a:r>
              <a:rPr lang="cs-CZ" sz="1800" b="0" dirty="0">
                <a:solidFill>
                  <a:srgbClr val="9CDCFE"/>
                </a:solidFill>
                <a:effectLst/>
                <a:latin typeface="Consolas" panose="020B0609020204030204" pitchFamily="49" charset="0"/>
              </a:rPr>
              <a:t>ENC_CLK</a:t>
            </a:r>
            <a:r>
              <a:rPr lang="cs-CZ" dirty="0">
                <a:solidFill>
                  <a:srgbClr val="D4D4D4"/>
                </a:solidFill>
                <a:latin typeface="Consolas" panose="020B0609020204030204" pitchFamily="49" charset="0"/>
              </a:rPr>
              <a:t>:</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32</a:t>
            </a:r>
            <a:r>
              <a:rPr lang="cs-CZ" sz="1800" b="0" dirty="0">
                <a:solidFill>
                  <a:srgbClr val="CCCCCC"/>
                </a:solidFill>
                <a:effectLst/>
                <a:latin typeface="Consolas" panose="020B0609020204030204" pitchFamily="49" charset="0"/>
              </a:rPr>
              <a:t>;</a:t>
            </a:r>
          </a:p>
          <a:p>
            <a:pPr marL="457200" lvl="1" indent="0">
              <a:buNone/>
            </a:pPr>
            <a:r>
              <a:rPr lang="cs-CZ" sz="1800" b="0" dirty="0">
                <a:solidFill>
                  <a:srgbClr val="9CDCFE"/>
                </a:solidFill>
                <a:effectLst/>
                <a:latin typeface="Consolas" panose="020B0609020204030204" pitchFamily="49" charset="0"/>
              </a:rPr>
              <a:t>ENC_DT</a:t>
            </a:r>
            <a:r>
              <a:rPr lang="cs-CZ" dirty="0">
                <a:solidFill>
                  <a:srgbClr val="D4D4D4"/>
                </a:solidFill>
                <a:latin typeface="Consolas" panose="020B0609020204030204" pitchFamily="49" charset="0"/>
              </a:rPr>
              <a:t>:</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33</a:t>
            </a:r>
            <a:r>
              <a:rPr lang="cs-CZ" sz="1800" b="0" dirty="0">
                <a:solidFill>
                  <a:srgbClr val="CCCCCC"/>
                </a:solidFill>
                <a:effectLst/>
                <a:latin typeface="Consolas" panose="020B0609020204030204" pitchFamily="49" charset="0"/>
              </a:rPr>
              <a:t>;</a:t>
            </a:r>
          </a:p>
          <a:p>
            <a:pPr marL="457200" lvl="1" indent="0">
              <a:buNone/>
            </a:pPr>
            <a:r>
              <a:rPr lang="cs-CZ" sz="1800" b="0" dirty="0">
                <a:solidFill>
                  <a:srgbClr val="9CDCFE"/>
                </a:solidFill>
                <a:effectLst/>
                <a:latin typeface="Consolas" panose="020B0609020204030204" pitchFamily="49" charset="0"/>
              </a:rPr>
              <a:t>ENC_SW</a:t>
            </a:r>
            <a:r>
              <a:rPr lang="cs-CZ" dirty="0">
                <a:solidFill>
                  <a:srgbClr val="D4D4D4"/>
                </a:solidFill>
                <a:latin typeface="Consolas" panose="020B0609020204030204" pitchFamily="49" charset="0"/>
              </a:rPr>
              <a:t>:</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25</a:t>
            </a:r>
            <a:r>
              <a:rPr lang="cs-CZ" sz="1800" b="0" dirty="0">
                <a:solidFill>
                  <a:srgbClr val="CCCCCC"/>
                </a:solidFill>
                <a:effectLst/>
                <a:latin typeface="Consolas" panose="020B0609020204030204" pitchFamily="49" charset="0"/>
              </a:rPr>
              <a:t>;</a:t>
            </a:r>
          </a:p>
          <a:p>
            <a:pPr marL="457200" lvl="1" indent="0">
              <a:buNone/>
            </a:pPr>
            <a:r>
              <a:rPr lang="cs-CZ" dirty="0">
                <a:solidFill>
                  <a:srgbClr val="9CDCFE"/>
                </a:solidFill>
                <a:latin typeface="Consolas" panose="020B0609020204030204" pitchFamily="49" charset="0"/>
              </a:rPr>
              <a:t>DIS_SDA</a:t>
            </a:r>
            <a:r>
              <a:rPr lang="cs-CZ" dirty="0">
                <a:solidFill>
                  <a:srgbClr val="CCCCCC"/>
                </a:solidFill>
                <a:latin typeface="Consolas" panose="020B0609020204030204" pitchFamily="49" charset="0"/>
              </a:rPr>
              <a:t>: </a:t>
            </a:r>
            <a:r>
              <a:rPr lang="cs-CZ" sz="1800" b="0" dirty="0">
                <a:solidFill>
                  <a:srgbClr val="B5CEA8"/>
                </a:solidFill>
                <a:effectLst/>
                <a:latin typeface="Consolas" panose="020B0609020204030204" pitchFamily="49" charset="0"/>
              </a:rPr>
              <a:t>21</a:t>
            </a:r>
            <a:r>
              <a:rPr lang="cs-CZ" sz="1800" b="0" dirty="0">
                <a:solidFill>
                  <a:srgbClr val="CCCCCC"/>
                </a:solidFill>
                <a:effectLst/>
                <a:latin typeface="Consolas" panose="020B0609020204030204" pitchFamily="49" charset="0"/>
              </a:rPr>
              <a:t>;</a:t>
            </a:r>
            <a:endParaRPr lang="cs-CZ" dirty="0">
              <a:solidFill>
                <a:srgbClr val="CCCCCC"/>
              </a:solidFill>
              <a:latin typeface="Consolas" panose="020B0609020204030204" pitchFamily="49" charset="0"/>
            </a:endParaRPr>
          </a:p>
          <a:p>
            <a:pPr marL="457200" lvl="1" indent="0">
              <a:buNone/>
            </a:pPr>
            <a:r>
              <a:rPr lang="cs-CZ" dirty="0">
                <a:solidFill>
                  <a:srgbClr val="9CDCFE"/>
                </a:solidFill>
                <a:latin typeface="Consolas" panose="020B0609020204030204" pitchFamily="49" charset="0"/>
              </a:rPr>
              <a:t>DIS_SCL</a:t>
            </a:r>
            <a:r>
              <a:rPr lang="cs-CZ" sz="1800" b="0" dirty="0">
                <a:solidFill>
                  <a:srgbClr val="CCCCCC"/>
                </a:solidFill>
                <a:effectLst/>
                <a:latin typeface="Consolas" panose="020B0609020204030204" pitchFamily="49" charset="0"/>
              </a:rPr>
              <a:t>: </a:t>
            </a:r>
            <a:r>
              <a:rPr lang="cs-CZ" sz="1800" b="0" dirty="0">
                <a:solidFill>
                  <a:srgbClr val="B5CEA8"/>
                </a:solidFill>
                <a:effectLst/>
                <a:latin typeface="Consolas" panose="020B0609020204030204" pitchFamily="49" charset="0"/>
              </a:rPr>
              <a:t>22</a:t>
            </a:r>
            <a:r>
              <a:rPr lang="cs-CZ" sz="1800" b="0" dirty="0">
                <a:solidFill>
                  <a:srgbClr val="CCCCCC"/>
                </a:solidFill>
                <a:effectLst/>
                <a:latin typeface="Consolas" panose="020B0609020204030204" pitchFamily="49" charset="0"/>
              </a:rPr>
              <a:t>;</a:t>
            </a:r>
          </a:p>
          <a:p>
            <a:pPr marL="457200" lvl="1" indent="0">
              <a:buNone/>
            </a:pPr>
            <a:r>
              <a:rPr lang="cs-CZ" sz="1800" b="0" dirty="0">
                <a:solidFill>
                  <a:srgbClr val="6A9955"/>
                </a:solidFill>
                <a:effectLst/>
                <a:latin typeface="Consolas" panose="020B0609020204030204" pitchFamily="49" charset="0"/>
              </a:rPr>
              <a:t>  </a:t>
            </a:r>
            <a:endParaRPr lang="cs-CZ" sz="1800" dirty="0"/>
          </a:p>
        </p:txBody>
      </p:sp>
    </p:spTree>
    <p:extLst>
      <p:ext uri="{BB962C8B-B14F-4D97-AF65-F5344CB8AC3E}">
        <p14:creationId xmlns:p14="http://schemas.microsoft.com/office/powerpoint/2010/main" val="213099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2F595E-2789-4120-A5E7-14294605BDB6}"/>
              </a:ext>
            </a:extLst>
          </p:cNvPr>
          <p:cNvSpPr>
            <a:spLocks noGrp="1"/>
          </p:cNvSpPr>
          <p:nvPr>
            <p:ph type="title"/>
          </p:nvPr>
        </p:nvSpPr>
        <p:spPr/>
        <p:txBody>
          <a:bodyPr/>
          <a:lstStyle/>
          <a:p>
            <a:r>
              <a:rPr lang="cs-CZ" dirty="0">
                <a:latin typeface="Arial Black" panose="020B0A04020102020204" pitchFamily="34" charset="0"/>
              </a:rPr>
              <a:t>SOFTWARE</a:t>
            </a:r>
          </a:p>
        </p:txBody>
      </p:sp>
      <p:sp>
        <p:nvSpPr>
          <p:cNvPr id="3" name="Zástupný obsah 2">
            <a:extLst>
              <a:ext uri="{FF2B5EF4-FFF2-40B4-BE49-F238E27FC236}">
                <a16:creationId xmlns:a16="http://schemas.microsoft.com/office/drawing/2014/main" id="{4131FC05-7FBE-4223-ACEA-6A6C88C53EFA}"/>
              </a:ext>
            </a:extLst>
          </p:cNvPr>
          <p:cNvSpPr>
            <a:spLocks noGrp="1"/>
          </p:cNvSpPr>
          <p:nvPr>
            <p:ph idx="1"/>
          </p:nvPr>
        </p:nvSpPr>
        <p:spPr>
          <a:xfrm>
            <a:off x="685801" y="2541863"/>
            <a:ext cx="10412834" cy="3951215"/>
          </a:xfrm>
        </p:spPr>
        <p:txBody>
          <a:bodyPr anchor="t">
            <a:normAutofit/>
          </a:bodyPr>
          <a:lstStyle/>
          <a:p>
            <a:pPr marL="0" indent="0">
              <a:buNone/>
            </a:pPr>
            <a:r>
              <a:rPr lang="cs-CZ" sz="2000" b="0" dirty="0">
                <a:effectLst/>
                <a:latin typeface="Consolas" panose="020B0609020204030204" pitchFamily="49" charset="0"/>
              </a:rPr>
              <a:t>Použité knihovny:</a:t>
            </a:r>
          </a:p>
          <a:p>
            <a:pPr marL="0" indent="0">
              <a:buNone/>
            </a:pPr>
            <a:r>
              <a:rPr lang="cs-CZ" b="0" dirty="0">
                <a:effectLst/>
                <a:latin typeface="Consolas" panose="020B0609020204030204" pitchFamily="49" charset="0"/>
              </a:rPr>
              <a:t>	</a:t>
            </a:r>
            <a:r>
              <a:rPr lang="cs-CZ" b="0" dirty="0">
                <a:effectLst/>
                <a:latin typeface="Consolas" panose="020B0609020204030204" pitchFamily="49" charset="0"/>
                <a:hlinkClick r:id="rId2"/>
              </a:rPr>
              <a:t>https://github.com/adafruit/Adafruit_SSD1306.git</a:t>
            </a:r>
            <a:r>
              <a:rPr lang="cs-CZ" b="0" dirty="0">
                <a:effectLst/>
                <a:latin typeface="Consolas" panose="020B0609020204030204" pitchFamily="49" charset="0"/>
              </a:rPr>
              <a:t> (Display) 	</a:t>
            </a:r>
            <a:r>
              <a:rPr lang="cs-CZ" b="0" dirty="0">
                <a:effectLst/>
                <a:latin typeface="Consolas" panose="020B0609020204030204" pitchFamily="49" charset="0"/>
                <a:hlinkClick r:id="rId3"/>
              </a:rPr>
              <a:t>https://github.com/igorantolic/ai-esp32-rotary-encoder.git</a:t>
            </a:r>
            <a:r>
              <a:rPr lang="cs-CZ" b="0" dirty="0">
                <a:effectLst/>
                <a:latin typeface="Consolas" panose="020B0609020204030204" pitchFamily="49" charset="0"/>
              </a:rPr>
              <a:t> (Rotační </a:t>
            </a:r>
            <a:r>
              <a:rPr lang="cs-CZ" dirty="0">
                <a:latin typeface="Consolas" panose="020B0609020204030204" pitchFamily="49" charset="0"/>
              </a:rPr>
              <a:t>E</a:t>
            </a:r>
            <a:r>
              <a:rPr lang="cs-CZ" b="0" dirty="0">
                <a:effectLst/>
                <a:latin typeface="Consolas" panose="020B0609020204030204" pitchFamily="49" charset="0"/>
              </a:rPr>
              <a:t>nkodér)</a:t>
            </a:r>
          </a:p>
          <a:p>
            <a:pPr marL="0" indent="0">
              <a:buNone/>
            </a:pPr>
            <a:r>
              <a:rPr lang="cs-CZ" dirty="0">
                <a:latin typeface="Consolas" panose="020B0609020204030204" pitchFamily="49" charset="0"/>
              </a:rPr>
              <a:t>Vytvořili jsme vlastní knihovny obalující zmíněné knihovny.</a:t>
            </a:r>
          </a:p>
          <a:p>
            <a:pPr marL="0" indent="0">
              <a:buNone/>
            </a:pPr>
            <a:r>
              <a:rPr lang="cs-CZ" dirty="0">
                <a:latin typeface="Consolas" panose="020B0609020204030204" pitchFamily="49" charset="0"/>
              </a:rPr>
              <a:t>Díky jednoduchosti RGB diody mám knihovnu zcela vlastní.</a:t>
            </a:r>
            <a:endParaRPr lang="cs-CZ" b="0" dirty="0">
              <a:effectLst/>
              <a:latin typeface="Consolas" panose="020B0609020204030204" pitchFamily="49" charset="0"/>
            </a:endParaRPr>
          </a:p>
        </p:txBody>
      </p:sp>
    </p:spTree>
    <p:extLst>
      <p:ext uri="{BB962C8B-B14F-4D97-AF65-F5344CB8AC3E}">
        <p14:creationId xmlns:p14="http://schemas.microsoft.com/office/powerpoint/2010/main" val="3398240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2F595E-2789-4120-A5E7-14294605BDB6}"/>
              </a:ext>
            </a:extLst>
          </p:cNvPr>
          <p:cNvSpPr>
            <a:spLocks noGrp="1"/>
          </p:cNvSpPr>
          <p:nvPr>
            <p:ph type="title"/>
          </p:nvPr>
        </p:nvSpPr>
        <p:spPr/>
        <p:txBody>
          <a:bodyPr/>
          <a:lstStyle/>
          <a:p>
            <a:r>
              <a:rPr lang="cs-CZ" dirty="0">
                <a:latin typeface="Arial Black" panose="020B0A04020102020204" pitchFamily="34" charset="0"/>
              </a:rPr>
              <a:t>Experience</a:t>
            </a:r>
          </a:p>
        </p:txBody>
      </p:sp>
      <p:sp>
        <p:nvSpPr>
          <p:cNvPr id="3" name="Zástupný obsah 2">
            <a:extLst>
              <a:ext uri="{FF2B5EF4-FFF2-40B4-BE49-F238E27FC236}">
                <a16:creationId xmlns:a16="http://schemas.microsoft.com/office/drawing/2014/main" id="{4131FC05-7FBE-4223-ACEA-6A6C88C53EFA}"/>
              </a:ext>
            </a:extLst>
          </p:cNvPr>
          <p:cNvSpPr>
            <a:spLocks noGrp="1"/>
          </p:cNvSpPr>
          <p:nvPr>
            <p:ph idx="1"/>
          </p:nvPr>
        </p:nvSpPr>
        <p:spPr>
          <a:xfrm>
            <a:off x="685801" y="1686187"/>
            <a:ext cx="11142676" cy="4806892"/>
          </a:xfrm>
        </p:spPr>
        <p:txBody>
          <a:bodyPr anchor="t">
            <a:normAutofit/>
          </a:bodyPr>
          <a:lstStyle/>
          <a:p>
            <a:pPr marL="0" indent="0">
              <a:buNone/>
            </a:pPr>
            <a:r>
              <a:rPr lang="cs-CZ" sz="2000" dirty="0"/>
              <a:t>Nové znalosti:</a:t>
            </a:r>
          </a:p>
          <a:p>
            <a:pPr marL="0" indent="0">
              <a:buNone/>
            </a:pPr>
            <a:r>
              <a:rPr lang="cs-CZ" sz="2000" dirty="0"/>
              <a:t>	Naučili jsme se lépe pracovat s časováním a neblokujícím čekání.</a:t>
            </a:r>
          </a:p>
          <a:p>
            <a:pPr marL="0" indent="0">
              <a:buNone/>
            </a:pPr>
            <a:r>
              <a:rPr lang="cs-CZ" sz="2000" dirty="0"/>
              <a:t>Chyby:</a:t>
            </a:r>
          </a:p>
          <a:p>
            <a:pPr marL="0" indent="0">
              <a:buNone/>
            </a:pPr>
            <a:r>
              <a:rPr lang="cs-CZ" sz="2000" dirty="0"/>
              <a:t>	Zápasení s ESP pinouty.</a:t>
            </a:r>
          </a:p>
          <a:p>
            <a:pPr marL="0" indent="0">
              <a:buNone/>
            </a:pPr>
            <a:r>
              <a:rPr lang="cs-CZ" sz="2000" dirty="0"/>
              <a:t>	Problémy s nepochopením knihovny Enkodéru. </a:t>
            </a:r>
          </a:p>
          <a:p>
            <a:pPr marL="0" indent="0">
              <a:buNone/>
            </a:pPr>
            <a:r>
              <a:rPr lang="cs-CZ" sz="2000" dirty="0"/>
              <a:t>Použité nástroje:</a:t>
            </a:r>
          </a:p>
          <a:p>
            <a:pPr marL="0" indent="0">
              <a:buNone/>
            </a:pPr>
            <a:r>
              <a:rPr lang="cs-CZ" sz="2000" dirty="0"/>
              <a:t>	AI našeptávání a částečné generování kódu s vlastní kontrolou.</a:t>
            </a:r>
          </a:p>
          <a:p>
            <a:pPr marL="0" indent="0">
              <a:buNone/>
            </a:pPr>
            <a:r>
              <a:rPr lang="cs-CZ" sz="2000" dirty="0"/>
              <a:t>	PlatformIO</a:t>
            </a:r>
          </a:p>
          <a:p>
            <a:pPr marL="0" indent="0">
              <a:buNone/>
            </a:pPr>
            <a:r>
              <a:rPr lang="cs-CZ" sz="2000" dirty="0"/>
              <a:t>	Wokwi (na simulování chování hardwaru)</a:t>
            </a:r>
          </a:p>
          <a:p>
            <a:pPr marL="0" indent="0">
              <a:buNone/>
            </a:pPr>
            <a:r>
              <a:rPr lang="cs-CZ" sz="2000" dirty="0"/>
              <a:t>	GitHub</a:t>
            </a:r>
          </a:p>
        </p:txBody>
      </p:sp>
    </p:spTree>
    <p:extLst>
      <p:ext uri="{BB962C8B-B14F-4D97-AF65-F5344CB8AC3E}">
        <p14:creationId xmlns:p14="http://schemas.microsoft.com/office/powerpoint/2010/main" val="435836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2F595E-2789-4120-A5E7-14294605BDB6}"/>
              </a:ext>
            </a:extLst>
          </p:cNvPr>
          <p:cNvSpPr>
            <a:spLocks noGrp="1"/>
          </p:cNvSpPr>
          <p:nvPr>
            <p:ph type="title"/>
          </p:nvPr>
        </p:nvSpPr>
        <p:spPr/>
        <p:txBody>
          <a:bodyPr/>
          <a:lstStyle/>
          <a:p>
            <a:r>
              <a:rPr lang="cs-CZ" dirty="0">
                <a:latin typeface="Arial Black" panose="020B0A04020102020204" pitchFamily="34" charset="0"/>
              </a:rPr>
              <a:t>Závěr</a:t>
            </a:r>
          </a:p>
        </p:txBody>
      </p:sp>
      <p:sp>
        <p:nvSpPr>
          <p:cNvPr id="3" name="Zástupný obsah 2">
            <a:extLst>
              <a:ext uri="{FF2B5EF4-FFF2-40B4-BE49-F238E27FC236}">
                <a16:creationId xmlns:a16="http://schemas.microsoft.com/office/drawing/2014/main" id="{4131FC05-7FBE-4223-ACEA-6A6C88C53EFA}"/>
              </a:ext>
            </a:extLst>
          </p:cNvPr>
          <p:cNvSpPr>
            <a:spLocks noGrp="1"/>
          </p:cNvSpPr>
          <p:nvPr>
            <p:ph idx="1"/>
          </p:nvPr>
        </p:nvSpPr>
        <p:spPr>
          <a:xfrm>
            <a:off x="685801" y="1686187"/>
            <a:ext cx="11142676" cy="4806892"/>
          </a:xfrm>
        </p:spPr>
        <p:txBody>
          <a:bodyPr anchor="t">
            <a:normAutofit/>
          </a:bodyPr>
          <a:lstStyle/>
          <a:p>
            <a:pPr marL="0" indent="0">
              <a:buNone/>
            </a:pPr>
            <a:r>
              <a:rPr lang="cs-CZ" sz="2000" dirty="0"/>
              <a:t>Co bychom udělali jinak?</a:t>
            </a:r>
          </a:p>
          <a:p>
            <a:pPr marL="0" indent="0">
              <a:buNone/>
            </a:pPr>
            <a:r>
              <a:rPr lang="cs-CZ" sz="2000" dirty="0"/>
              <a:t>	Obecně se nám celkem dařilo, ale na některé věci jsme mohli přijít trochu dřív abychom měli více 	času na větší propracovanost.</a:t>
            </a:r>
          </a:p>
          <a:p>
            <a:pPr marL="0" indent="0">
              <a:buNone/>
            </a:pPr>
            <a:r>
              <a:rPr lang="cs-CZ" sz="2000" dirty="0"/>
              <a:t>Ohodnocení:</a:t>
            </a:r>
          </a:p>
          <a:p>
            <a:pPr marL="0" indent="0">
              <a:buNone/>
            </a:pPr>
            <a:r>
              <a:rPr lang="cs-CZ" sz="2000" dirty="0"/>
              <a:t>	Projekt probíhal zajímavě, hlavně rozdělení periferií byla zábavná část.</a:t>
            </a:r>
          </a:p>
          <a:p>
            <a:pPr marL="0" indent="0">
              <a:buNone/>
            </a:pPr>
            <a:r>
              <a:rPr lang="cs-CZ" sz="2000" dirty="0"/>
              <a:t>	Příště by bylo fajn mít větší display a možnost položit enkodér na desku horizontálně.</a:t>
            </a:r>
          </a:p>
          <a:p>
            <a:pPr marL="0" indent="0">
              <a:buNone/>
            </a:pPr>
            <a:r>
              <a:rPr lang="cs-CZ" sz="2000" dirty="0"/>
              <a:t>	</a:t>
            </a:r>
          </a:p>
          <a:p>
            <a:pPr marL="0" indent="0">
              <a:buNone/>
            </a:pPr>
            <a:r>
              <a:rPr lang="cs-CZ" sz="2000" dirty="0"/>
              <a:t>	Nahlédnutí k ostatním praxím byla zajímavá a informativně užitečná zkušenost.</a:t>
            </a:r>
          </a:p>
          <a:p>
            <a:pPr marL="0" indent="0">
              <a:buNone/>
            </a:pPr>
            <a:r>
              <a:rPr lang="cs-CZ" sz="2000" dirty="0"/>
              <a:t>	Prozatím nebyla přijata moc pozitivně.</a:t>
            </a:r>
          </a:p>
          <a:p>
            <a:pPr marL="0" indent="0">
              <a:buNone/>
            </a:pPr>
            <a:r>
              <a:rPr lang="cs-CZ" sz="2000" dirty="0"/>
              <a:t>	</a:t>
            </a:r>
          </a:p>
        </p:txBody>
      </p:sp>
    </p:spTree>
    <p:extLst>
      <p:ext uri="{BB962C8B-B14F-4D97-AF65-F5344CB8AC3E}">
        <p14:creationId xmlns:p14="http://schemas.microsoft.com/office/powerpoint/2010/main" val="16159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be">
  <a:themeElements>
    <a:clrScheme name="Nebe">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Neb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be">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TM03457452[[fn=Nebe]]</Template>
  <TotalTime>75</TotalTime>
  <Words>483</Words>
  <Application>Microsoft Office PowerPoint</Application>
  <PresentationFormat>Širokoúhlá obrazovka</PresentationFormat>
  <Paragraphs>51</Paragraphs>
  <Slides>6</Slides>
  <Notes>0</Notes>
  <HiddenSlides>0</HiddenSlides>
  <MMClips>0</MMClips>
  <ScaleCrop>false</ScaleCrop>
  <HeadingPairs>
    <vt:vector size="6" baseType="variant">
      <vt:variant>
        <vt:lpstr>Použitá písma</vt:lpstr>
      </vt:variant>
      <vt:variant>
        <vt:i4>7</vt:i4>
      </vt:variant>
      <vt:variant>
        <vt:lpstr>Motiv</vt:lpstr>
      </vt:variant>
      <vt:variant>
        <vt:i4>1</vt:i4>
      </vt:variant>
      <vt:variant>
        <vt:lpstr>Nadpisy snímků</vt:lpstr>
      </vt:variant>
      <vt:variant>
        <vt:i4>6</vt:i4>
      </vt:variant>
    </vt:vector>
  </HeadingPairs>
  <TitlesOfParts>
    <vt:vector size="14" baseType="lpstr">
      <vt:lpstr>Arial</vt:lpstr>
      <vt:lpstr>Arial Black</vt:lpstr>
      <vt:lpstr>Bahnschrift</vt:lpstr>
      <vt:lpstr>Berlin Sans FB Demi</vt:lpstr>
      <vt:lpstr>Calibri</vt:lpstr>
      <vt:lpstr>Calibri Light</vt:lpstr>
      <vt:lpstr>Consolas</vt:lpstr>
      <vt:lpstr>Nebe</vt:lpstr>
      <vt:lpstr>Mikroby</vt:lpstr>
      <vt:lpstr>Návrh</vt:lpstr>
      <vt:lpstr>HardWare</vt:lpstr>
      <vt:lpstr>SOFTWARE</vt:lpstr>
      <vt:lpstr>Experience</vt:lpstr>
      <vt:lpstr>Závěr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Mikroby</dc:title>
  <dc:creator>EA425</dc:creator>
  <cp:lastModifiedBy>EA425</cp:lastModifiedBy>
  <cp:revision>9</cp:revision>
  <dcterms:created xsi:type="dcterms:W3CDTF">2026-05-25T07:27:28Z</dcterms:created>
  <dcterms:modified xsi:type="dcterms:W3CDTF">2026-05-25T08:42:51Z</dcterms:modified>
</cp:coreProperties>
</file>